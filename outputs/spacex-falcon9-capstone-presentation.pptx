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5a9b75c194e72" /><Relationship Type="http://schemas.openxmlformats.org/officeDocument/2006/relationships/extended-properties" Target="/docProps/app.xml" Id="R8324cf81312f4032" /><Relationship Type="http://schemas.openxmlformats.org/officeDocument/2006/relationships/officeDocument" Target="/ppt/presentation.xml" Id="R15d1a615afea4f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d1b39773de4911"/>
  </p:sldMasterIdLst>
  <p:notesMasterIdLst>
    <p:notesMasterId xmlns:r="http://schemas.openxmlformats.org/officeDocument/2006/relationships" r:id="Rc7628628f3a046dc"/>
  </p:notesMasterIdLst>
  <p:sldIdLst>
    <p:sldId xmlns:r="http://schemas.openxmlformats.org/officeDocument/2006/relationships" id="256" r:id="R64d13e05156d46e7"/>
    <p:sldId xmlns:r="http://schemas.openxmlformats.org/officeDocument/2006/relationships" id="257" r:id="R6d57dc702220467e"/>
    <p:sldId xmlns:r="http://schemas.openxmlformats.org/officeDocument/2006/relationships" id="258" r:id="R9485a4c897414e17"/>
    <p:sldId xmlns:r="http://schemas.openxmlformats.org/officeDocument/2006/relationships" id="259" r:id="R674cc1f4920142b8"/>
    <p:sldId xmlns:r="http://schemas.openxmlformats.org/officeDocument/2006/relationships" id="260" r:id="Re202e71dd7ac48f5"/>
    <p:sldId xmlns:r="http://schemas.openxmlformats.org/officeDocument/2006/relationships" id="261" r:id="Rddcbe61e346a45bc"/>
    <p:sldId xmlns:r="http://schemas.openxmlformats.org/officeDocument/2006/relationships" id="262" r:id="R38b660fa05354387"/>
    <p:sldId xmlns:r="http://schemas.openxmlformats.org/officeDocument/2006/relationships" id="263" r:id="Ree24eceeff494e1a"/>
    <p:sldId xmlns:r="http://schemas.openxmlformats.org/officeDocument/2006/relationships" id="264" r:id="R1ad2f05f97524896"/>
    <p:sldId xmlns:r="http://schemas.openxmlformats.org/officeDocument/2006/relationships" id="265" r:id="Rf6a1616422fe4909"/>
    <p:sldId xmlns:r="http://schemas.openxmlformats.org/officeDocument/2006/relationships" id="266" r:id="Rf93ddfd3b3ca4ad6"/>
    <p:sldId xmlns:r="http://schemas.openxmlformats.org/officeDocument/2006/relationships" id="267" r:id="R8f594ac890dd44f8"/>
    <p:sldId xmlns:r="http://schemas.openxmlformats.org/officeDocument/2006/relationships" id="268" r:id="Re2fc5c9e747c491d"/>
    <p:sldId xmlns:r="http://schemas.openxmlformats.org/officeDocument/2006/relationships" id="269" r:id="Reafbd5c1f06a4c4d"/>
    <p:sldId xmlns:r="http://schemas.openxmlformats.org/officeDocument/2006/relationships" id="270" r:id="Ra77b2ec2fd6142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eb159818bc4637" /><Relationship Type="http://schemas.openxmlformats.org/officeDocument/2006/relationships/slideMaster" Target="/ppt/slideMasters/slideMaster1.xml" Id="R1dd1b39773de4911" /><Relationship Type="http://schemas.openxmlformats.org/officeDocument/2006/relationships/notesMaster" Target="/ppt/notesMasters/notesMaster1.xml" Id="Rc7628628f3a046dc" /><Relationship Type="http://schemas.openxmlformats.org/officeDocument/2006/relationships/presProps" Target="/ppt/presProps.xml" Id="Rb22be37c8a724aa1" /><Relationship Type="http://schemas.openxmlformats.org/officeDocument/2006/relationships/tableStyles" Target="/ppt/tableStyles.xml" Id="R78a234c58f9143e0" /><Relationship Type="http://schemas.openxmlformats.org/officeDocument/2006/relationships/slide" Target="/ppt/slides/slide1.xml" Id="R64d13e05156d46e7" /><Relationship Type="http://schemas.openxmlformats.org/officeDocument/2006/relationships/slide" Target="/ppt/slides/slide2.xml" Id="R6d57dc702220467e" /><Relationship Type="http://schemas.openxmlformats.org/officeDocument/2006/relationships/slide" Target="/ppt/slides/slide3.xml" Id="R9485a4c897414e17" /><Relationship Type="http://schemas.openxmlformats.org/officeDocument/2006/relationships/slide" Target="/ppt/slides/slide4.xml" Id="R674cc1f4920142b8" /><Relationship Type="http://schemas.openxmlformats.org/officeDocument/2006/relationships/slide" Target="/ppt/slides/slide5.xml" Id="Re202e71dd7ac48f5" /><Relationship Type="http://schemas.openxmlformats.org/officeDocument/2006/relationships/slide" Target="/ppt/slides/slide6.xml" Id="Rddcbe61e346a45bc" /><Relationship Type="http://schemas.openxmlformats.org/officeDocument/2006/relationships/slide" Target="/ppt/slides/slide7.xml" Id="R38b660fa05354387" /><Relationship Type="http://schemas.openxmlformats.org/officeDocument/2006/relationships/slide" Target="/ppt/slides/slide8.xml" Id="Ree24eceeff494e1a" /><Relationship Type="http://schemas.openxmlformats.org/officeDocument/2006/relationships/slide" Target="/ppt/slides/slide9.xml" Id="R1ad2f05f97524896" /><Relationship Type="http://schemas.openxmlformats.org/officeDocument/2006/relationships/slide" Target="/ppt/slides/slide10.xml" Id="Rf6a1616422fe4909" /><Relationship Type="http://schemas.openxmlformats.org/officeDocument/2006/relationships/slide" Target="/ppt/slides/slide11.xml" Id="Rf93ddfd3b3ca4ad6" /><Relationship Type="http://schemas.openxmlformats.org/officeDocument/2006/relationships/slide" Target="/ppt/slides/slide12.xml" Id="R8f594ac890dd44f8" /><Relationship Type="http://schemas.openxmlformats.org/officeDocument/2006/relationships/slide" Target="/ppt/slides/slide13.xml" Id="Re2fc5c9e747c491d" /><Relationship Type="http://schemas.openxmlformats.org/officeDocument/2006/relationships/slide" Target="/ppt/slides/slide14.xml" Id="Reafbd5c1f06a4c4d" /><Relationship Type="http://schemas.openxmlformats.org/officeDocument/2006/relationships/slide" Target="/ppt/slides/slide15.xml" Id="Ra77b2ec2fd6142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7bff3706544c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8ca1ebc1e4b71" /><Relationship Type="http://schemas.openxmlformats.org/officeDocument/2006/relationships/notesMaster" Target="/ppt/notesMasters/notesMaster1.xml" Id="R50936210a226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a57ec95ad04cef" /><Relationship Type="http://schemas.openxmlformats.org/officeDocument/2006/relationships/notesMaster" Target="/ppt/notesMasters/notesMaster1.xml" Id="R90aa06162e7f48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ba8f0fbf384196" /><Relationship Type="http://schemas.openxmlformats.org/officeDocument/2006/relationships/notesMaster" Target="/ppt/notesMasters/notesMaster1.xml" Id="Rfd2f0f617a6b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1d2ff63d8a47db" /><Relationship Type="http://schemas.openxmlformats.org/officeDocument/2006/relationships/notesMaster" Target="/ppt/notesMasters/notesMaster1.xml" Id="Rdd439c9e033a40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2d01ae5e6b4a68" /><Relationship Type="http://schemas.openxmlformats.org/officeDocument/2006/relationships/notesMaster" Target="/ppt/notesMasters/notesMaster1.xml" Id="Re8562cd9061d48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ce9b850ea5407a" /><Relationship Type="http://schemas.openxmlformats.org/officeDocument/2006/relationships/notesMaster" Target="/ppt/notesMasters/notesMaster1.xml" Id="Ra10a8d7a6fa04f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1ffdfb653648c4" /><Relationship Type="http://schemas.openxmlformats.org/officeDocument/2006/relationships/notesMaster" Target="/ppt/notesMasters/notesMaster1.xml" Id="R6967fb99dbaf44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70fa8be1cb4bf1" /><Relationship Type="http://schemas.openxmlformats.org/officeDocument/2006/relationships/notesMaster" Target="/ppt/notesMasters/notesMaster1.xml" Id="R5aed45c637604c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f80b35191b4ce1" /><Relationship Type="http://schemas.openxmlformats.org/officeDocument/2006/relationships/notesMaster" Target="/ppt/notesMasters/notesMaster1.xml" Id="Raf2bd1385c8f40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035e1b138246d8" /><Relationship Type="http://schemas.openxmlformats.org/officeDocument/2006/relationships/notesMaster" Target="/ppt/notesMasters/notesMaster1.xml" Id="R9699a5e95f1048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fb8fb368064e3f" /><Relationship Type="http://schemas.openxmlformats.org/officeDocument/2006/relationships/notesMaster" Target="/ppt/notesMasters/notesMaster1.xml" Id="Ra45a08aaec3f4d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7c23333b064b5c" /><Relationship Type="http://schemas.openxmlformats.org/officeDocument/2006/relationships/notesMaster" Target="/ppt/notesMasters/notesMaster1.xml" Id="Ra1c360a9088543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cdfbf179434ff0" /><Relationship Type="http://schemas.openxmlformats.org/officeDocument/2006/relationships/notesMaster" Target="/ppt/notesMasters/notesMaster1.xml" Id="R7d5fcf16c3c341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8f283fa0e045de" /><Relationship Type="http://schemas.openxmlformats.org/officeDocument/2006/relationships/notesMaster" Target="/ppt/notesMasters/notesMaster1.xml" Id="R2ea17c98e3a247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fbe2ec08394ca7" /><Relationship Type="http://schemas.openxmlformats.org/officeDocument/2006/relationships/notesMaster" Target="/ppt/notesMasters/notesMaster1.xml" Id="R3b1aa5d1faba47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b689bbe094c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df7af028c4987" /><Relationship Type="http://schemas.openxmlformats.org/officeDocument/2006/relationships/slideLayout" Target="/ppt/slideLayouts/slideLayout1.xml" Id="R6ec8c392f8d341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c8c392f8d341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dda87b23e4b6e" /><Relationship Type="http://schemas.openxmlformats.org/officeDocument/2006/relationships/image" Target="/ppt/media/image.jpeg" Id="Ra8f3888330d04ed7" /><Relationship Type="http://schemas.openxmlformats.org/officeDocument/2006/relationships/notesSlide" Target="/ppt/notesSlides/notesSlide1.xml" Id="R59ed90b08f2d4c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5413476c341d8" /><Relationship Type="http://schemas.openxmlformats.org/officeDocument/2006/relationships/notesSlide" Target="/ppt/notesSlides/notesSlide2.xml" Id="R639be47fa83d47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7c9f4ed884c37" /><Relationship Type="http://schemas.openxmlformats.org/officeDocument/2006/relationships/notesSlide" Target="/ppt/notesSlides/notesSlide3.xml" Id="Ra745e4218dbb44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764a211ef438b" /><Relationship Type="http://schemas.openxmlformats.org/officeDocument/2006/relationships/notesSlide" Target="/ppt/notesSlides/notesSlide4.xml" Id="R866be002b14547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5ef8e8ea44f55" /><Relationship Type="http://schemas.openxmlformats.org/officeDocument/2006/relationships/notesSlide" Target="/ppt/notesSlides/notesSlide5.xml" Id="R9b1f336685bc4f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15f6e04b74af2" /><Relationship Type="http://schemas.openxmlformats.org/officeDocument/2006/relationships/notesSlide" Target="/ppt/notesSlides/notesSlide6.xml" Id="Rdf3a62d2c95d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b786688ee4d66" /><Relationship Type="http://schemas.openxmlformats.org/officeDocument/2006/relationships/notesSlide" Target="/ppt/notesSlides/notesSlide7.xml" Id="R78b63f61323342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db2ab5e7741ba" /><Relationship Type="http://schemas.openxmlformats.org/officeDocument/2006/relationships/notesSlide" Target="/ppt/notesSlides/notesSlide8.xml" Id="Rcbde4cfa663444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bdb5fe6f54ed5" /><Relationship Type="http://schemas.openxmlformats.org/officeDocument/2006/relationships/notesSlide" Target="/ppt/notesSlides/notesSlide9.xml" Id="R7f5d67ebbd0447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a44e78e644214" /><Relationship Type="http://schemas.openxmlformats.org/officeDocument/2006/relationships/notesSlide" Target="/ppt/notesSlides/notesSlide10.xml" Id="Rcf60b084b6d74a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21610dd264da3" /><Relationship Type="http://schemas.openxmlformats.org/officeDocument/2006/relationships/notesSlide" Target="/ppt/notesSlides/notesSlide11.xml" Id="Ra290f5c81bfa47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31c771405447d" /><Relationship Type="http://schemas.openxmlformats.org/officeDocument/2006/relationships/notesSlide" Target="/ppt/notesSlides/notesSlide12.xml" Id="R2ba24b753d974e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9dd1f27944ea1" /><Relationship Type="http://schemas.openxmlformats.org/officeDocument/2006/relationships/notesSlide" Target="/ppt/notesSlides/notesSlide13.xml" Id="R218fce858a9540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fc19713194424" /><Relationship Type="http://schemas.openxmlformats.org/officeDocument/2006/relationships/notesSlide" Target="/ppt/notesSlides/notesSlide14.xml" Id="R702b404ce5bc40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93f627e504015" /><Relationship Type="http://schemas.openxmlformats.org/officeDocument/2006/relationships/notesSlide" Target="/ppt/notesSlides/notesSlide15.xml" Id="R4adeee4d448b45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3888330d04ed7"/>
          <a:srcRect xmlns:a="http://schemas.openxmlformats.org/drawingml/2006/main" l="0" t="17844" r="0" b="178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75F2F-32D9-4180-BD6F-EC386274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AC2F4-4ABB-45DE-8000-46698986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2000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78D2F-B4F9-48F1-82EE-B8BE3AB7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SPACE X FALCON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64CF3-B19D-4CAB-A481-20EA5EFA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First Stage Landing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D55AF-0D32-4924-9BA2-9119967C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Data collection, EDA, SQL, interactive analytics, and classification 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2E677-BE53-44F1-BBE0-3BD7C11A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https://github.com/SinaQP/SpaceX-Falcon9-Prediction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1B44A-0918-4580-BEDC-06744A9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2051284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7C93A-770C-4EB2-B6C1-8A6721B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B5ED0-17CE-4CA5-A7A5-2A592A4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53437-A951-4182-A46D-0CE40960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59A82-A708-4938-98F7-3298B749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2C00F-1F03-4B0A-85BF-00C1D850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0DB1E-3ED7-4F3A-88EA-88128DEE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cleaned launch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8EC9A-A584-4A54-B5AC-E7C56A3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954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CAE7E-CB41-4C66-823E-BC7A2B6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24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CD03E-7995-4EBD-AE18-F2EDE3F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81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overall landing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A1E80-4DAA-4976-9F7B-010A7D00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BEDB0-189A-44ED-B86C-1FFFCFB4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83.3%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97B9B-F53E-4118-876F-C3A8D513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best model test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5A484-C8CB-486E-9E9F-3D0BE79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954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62DBA-64C3-49ED-A759-1F75DAD5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24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87.7%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E7F4C-81A6-4828-A35D-CAD36664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81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best CV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DB6B0-DCC6-4D1A-9735-D1E2CFB5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Goal: predict Falcon 9 first-stage landing success.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ED68E-F512-47BA-A329-D27DE53D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433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Workflow: collect, wrangle, explore, map, dashboard, model.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7C5AC-52BC-4DD5-BCFE-A8C5DE9F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577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Best model: Decision Tree selected by cross-validation.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E2BF0-9C83-4366-A340-ED1B9E6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720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Key drivers: launch site, orbit, reuse, grid fins, legs, and flight history.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39EF6-100D-49E0-A75E-36EB2CE3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97E27-E6B0-45ED-B94D-2BAD0156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EAC37-80CE-4DC9-BBB4-EACD03A5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</p:spTree>
    <p:extLst>
      <p:ext uri="{BB962C8B-B14F-4D97-AF65-F5344CB8AC3E}">
        <p14:creationId xmlns:p14="http://schemas.microsoft.com/office/powerpoint/2010/main" val="304703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9376F-8A8E-4999-94DC-CF3E015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7FDBF-816B-493F-A43D-B69C40B4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5A8A8-01CC-4959-BBF9-C748D400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79AE0-40AD-4537-AEAE-1A10C236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857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4733B-B9B1-4EAC-B83C-50056DB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857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606F2-72A8-4A1D-9E4B-7CE1A46D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Business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B7C25-408B-4C72-B866-D1707FA6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Reusable first stages reduce launch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0BA24-EF61-407B-9A15-F0561430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Landing outcome affects launch economics.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CE45E-7564-499F-B416-DB1C3F61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Prediction supports risk and cost estimation.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D383D-AD88-49AD-B835-1313F539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19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Project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D2E9B-8F5E-4E0F-BD31-10BB231B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Can historical launch data predict landing success?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A8364-8E8D-448D-8731-375CFB03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43275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Which operational features explain success patterns?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D99E8-0891-4C9B-8EDB-893923A3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57650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How well do classification models perform?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4D05F-F0A9-4CCB-AF2E-B2E9318A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841CB-3321-49D3-A849-9F693B9D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4388A-7D00-49CE-BB94-D59A9349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904304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97AAC-630B-49F3-BA10-E8E03741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1C104-1EF6-4F0F-9D4E-DD8B9F9B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Data Collection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827E3-1F74-4EA6-88C6-1CF5ECD6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4817D-3195-4499-9751-7130FFA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04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Collected SpaceX launch records and scraped Falcon 9/Falcon Heavy launch tables.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8B69E-5EAF-4D5B-BE19-63FEA6AD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704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Parsed fields: flight number, date, site, payload, payload mass, orbit, customer, launch and booster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13553-4719-4F9D-BB87-DF416546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704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Primary notebooks: web scraping and launch-data collection notebooks.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9334A-D4F9-4CD6-8081-256153EE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Raw source file in repo: spacex_launch_data.csv.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7EB95-B107-4484-9EA9-CF99D53E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95450"/>
            <a:ext cx="2667000" cy="3048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E7FD3-0F0D-49DB-AF00-0BD01EE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19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Raw Data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AD8F3-B5F6-44A4-85E2-5637711B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Launch site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9AB34-96E1-4FAB-842F-0EB77BB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813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Payload mass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2ED9B-EB41-48BC-8D9B-5FB0D3E9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909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Orbit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9F3CA-63FC-419E-940E-91530145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004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Customer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25DFD-6D89-4253-9AE2-A02CD053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00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Booster 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88CD1-ACDC-463B-AF0C-127BAEE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19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Landing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C4F3E-A126-423C-B8EF-F070F427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0501A-1956-4FCA-8650-F1AAF73A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9865F-2C54-42AD-AD09-56442480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</p:spTree>
    <p:extLst>
      <p:ext uri="{BB962C8B-B14F-4D97-AF65-F5344CB8AC3E}">
        <p14:creationId xmlns:p14="http://schemas.microsoft.com/office/powerpoint/2010/main" val="1801166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31416-356A-4B87-91D4-AA140AC4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6B21D-B2FC-4BBA-B329-6BC9B90B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Data Wrangling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092C0-D631-4799-ADAD-1020784B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76792-9740-4255-8C1F-3CC114B2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3C783-366C-4CC2-AD77-D0135B01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072CB-EFDD-4A8E-A2A5-8CAF03F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2EF68-22B9-484C-93F0-DFC897F0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18CD3-E06E-4E5A-804A-849EBA5A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15BD1-46F1-47A9-BEDF-2CA46673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Clean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09CCC-40F6-4377-B08A-24FBAEA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431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339B4-7942-4680-A308-0DA882EC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384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90 rows and 18 columns retained for modeling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0717A-174D-4242-8153-0C8D59A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FAA14-6413-4C77-9810-DB37EB89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 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CDEAA-002A-4371-AACB-E7B51580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3F90D-97CA-4089-AA78-36CD5FE3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Class = 1 successful landing; Class = 0 unsuccessful landing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13F3E-E23A-4F10-A86A-E6ADCC49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35A41-83A1-4B06-B6F4-69DDCFF0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Missing values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E2CAA-DCAA-4198-8B26-95AFAC5B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242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6C0F9-B014-446E-AB0E-DE96E047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PayloadMass filled with mean; LandingPad missingness retained as feature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D3CBB-3B6D-4B85-B9EB-EA0F027A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10484-D7BA-4AD5-AA9E-98F5B3A4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Core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3B23A-D59D-40F0-A25D-F3B09072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BDA19-269E-4927-B721-17BF011F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100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FlightNumber, Date, PayloadMass, Orbit, LaunchSite, Flights, GridFins, Reused, Legs, Block, ReusedCount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09520F-4714-4D8B-A5C3-3095C95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00625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0D8A8-C375-4D49-B26F-E7A1500A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2922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6B6E6-3384-489E-B4E9-1285FF19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864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successful landings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21BE9-D978-4C20-A3D8-329C3DC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897D0-0F88-49F7-9EAA-DD56DEE7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815E6-629C-4B83-B902-1064A05B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257821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0B7356-667E-42C6-BB12-42ADF1E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4E943-1021-466B-85C7-1FC0E666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EDA And Visual Analytics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9BDED-0719-4402-A6E1-C71B0D46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293AB-7DEF-4926-B9CA-2B0AE0BB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9810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Explored landing success by launch site, payload mass, orbit, flight number, and year.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1FA4C-D40D-45FA-A1DC-DD4DBF52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Used pandas, matplotlib, seaborn, SQL, Folium, Plotly, and Dash.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B20FB-C3A6-426F-9318-5C67E567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Built static charts for relationships and trends.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EF19C-FBC3-4494-BB30-1AEE5557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Built interactive map and dashboard for site and payload exploration.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71747-C6B4-49DB-8A0A-E3D70AA7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89859-76BA-4EC7-92E8-AC627EF0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Static EDA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0FCF2-A6B3-472C-93C0-2156BB14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0F0CE-50F8-410F-B0E2-2C7A65E9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91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40ADD-937F-4045-9246-34B3C029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FFE7B-A8FF-4476-BC57-4ECF7C0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91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Folium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6F3F0-3E70-4D33-97F0-A6D3CD1B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A546F-E96B-4365-A798-38C5CAAF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Dash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0CA3B-D246-469B-8AC2-EC43D747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22817-5710-4A47-9504-47FB07C7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Trends and feature relationships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31A0-1A3E-4304-A73B-15ED4D5F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F33B1-34AD-4AEF-B112-EA9A787E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81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Query-based summaries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F43B1-F74A-49A4-9135-0126B617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863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54DB4-DCE4-4FAD-8BC0-A1B99F8C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Launch-site geography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098C6-E137-42CD-93E7-1DF1896E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48823-7E07-49D3-A79D-8CDF0338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Interactive filters and plots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E955B-9762-42EB-889E-1BD9742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90652-DEFF-43B9-9DC2-524E9408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E1CCE-F8A8-42B9-ADBD-B7F3B94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</p:spTree>
    <p:extLst>
      <p:ext uri="{BB962C8B-B14F-4D97-AF65-F5344CB8AC3E}">
        <p14:creationId xmlns:p14="http://schemas.microsoft.com/office/powerpoint/2010/main" val="598661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397AE-A9A0-4C85-86DE-0CCE56F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A0DB5-3E9D-4C63-A4BA-97F2B74F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Predictive Analysis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9FA70-A231-4398-AA29-B1F23B16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E9E80-59AA-443B-A08E-A817A1A9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668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8677-79C0-4C72-BF11-19C4F2A5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Modeling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5570E-A989-4F7F-A94E-9A249A14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83 engineered numerical and one-hot encoded features.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12792-D80D-4C3A-9D77-C0C57A01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StandardScaler applied before modeling.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9CEC5-DE18-4DC9-A993-787921BA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80/20 train-test split with random_state=2.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27A0A-9EE6-4B78-81DB-9DA27624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10-fold GridSearchCV for hyperparameter tuning.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2F353-23D0-415F-A880-6AD410ED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Models: Logistic Regression, SVM, Decision Tree, KNN.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D93B0-ACBF-41BB-8FD1-4F6E9378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28875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300BD-99D4-454E-9651-E4F1E7CD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574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CAB33-6C94-4546-9A29-32A6EE86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146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engineered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376E4-369E-4C7E-8BB9-C4424A6A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67125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0F876-FFF4-48BB-AAD2-AFD000AE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89572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08D2B-537F-424F-B5EC-1E0E5DCA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529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test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BA31F-DEB6-4137-9079-5DF5039B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5064C-8BB5-47EE-8B67-6700FB1B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C36C9-6F8F-426D-ACF3-B6959C61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1097784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B5D49-180F-422B-B073-9A74621D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F209E-3AC4-42EE-B597-37F6578A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EDA Visualization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D2FC7-E4B3-4C85-AD34-0F333C05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0ACAF-5EA1-4296-8913-C676B765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Launch-site landing success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264F3-CB59-4F7B-9D0B-C79848A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409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92DCD-8473-4032-9F04-957010C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40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5C1C7-30EA-40D2-A95F-00DF6A38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60%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59747-BA9B-4D22-975E-29BFE693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768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CCAFS</a:t>
            </a:r>
          </a:p>
          <a:p xmlns:a="http://schemas.openxmlformats.org/drawingml/2006/main">
            <a:pPr algn="ct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SLC 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4CA92-EEB7-417B-8706-8DCBBE25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409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FFF99-59B0-401F-9405-4BFE6655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21794"/>
            <a:ext cx="1409700" cy="1840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F5E15-47CE-4996-981F-4A11E3EB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55094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77.3%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FBDC3-6A36-47C9-96A4-09EDED8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768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KSC</a:t>
            </a:r>
          </a:p>
          <a:p xmlns:a="http://schemas.openxmlformats.org/drawingml/2006/main">
            <a:pPr algn="ct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LC 39A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A20E5-0386-42EA-83DA-FA06B781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1409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170ED-3863-4BC8-A2C2-0977FEB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31319"/>
            <a:ext cx="1409700" cy="18311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198BF-D078-4412-A798-42DB2CFA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64619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76.9%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29CCB-4C38-443C-878C-91E41A6B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8768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VAFB</a:t>
            </a:r>
          </a:p>
          <a:p xmlns:a="http://schemas.openxmlformats.org/drawingml/2006/main">
            <a:pPr algn="ct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SLC 4E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F67B8-90B2-4D3D-8292-136D82C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Success improved from early failures to 90.0% in 2019 and 84.2% in 2020.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C4FAA-75A6-431D-B5D6-E22EC2DD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2014-2015: 33.3%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0A693-799A-4919-934F-7B70419E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2016: 62.5%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8A291-E891-468B-AB6F-F3528BB7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2017: 83.3%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C2E5C-DB05-430F-8183-01B0CFBB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2019: 90.0%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B01DB-644B-4AEE-8B6E-E969FFEA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2020: 84.2%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F7202-3820-46A4-B899-AC0A36CE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FE581-8346-4D4E-AF86-2FC9F7A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EAF41-BA16-4216-9705-89269824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1095233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5FD7D9-0223-45C9-A3AD-3DB583F4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8ED50-B1BD-4F98-B8EA-A227747E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EDA Feature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261E0-0965-40F6-AC64-53B44DB8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6B10B-A705-4D07-BB71-3D64E002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0F3FE-E868-4848-8EE4-E1D2FB0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39310-7996-4752-9F5E-3EDF821D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145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4E2A0-41ED-4FD3-AAA0-780433EE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False / 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81D66-458F-45FE-831E-A9F1D39C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2A45A-E4F6-4C0A-91D9-ADC7ADA0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97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True / Yes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FE596-14EC-48C9-A3BC-16CD9B77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145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3C1C5-0277-413E-8A8F-CA860671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97B61-026C-47DD-88DE-648DA70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23DDA-7CD3-4FE6-AE2F-3FE67A28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Grid fins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5D74C-8BE8-4B20-B8DE-A7373796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241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80123-AA15-4755-AD6A-8EB1446D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10.0%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B559E-EE13-4E98-8ADF-58D64505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19D37-1863-4045-835B-D5A8E770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193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82.9%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A811E-6F75-4DE4-91AA-2D4EBFD9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241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E8161-7BA1-448B-8C26-85E94584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193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Major landing-control 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6454F-5D01-41BA-9F1B-2244FA15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AEE0D-BACB-4CE0-85BD-99A54FD9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Landing legs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7829A-07F2-415A-9B13-D4448CF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C1AC4-0D72-4F67-952B-07E75B7F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5.3%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3B881-A987-4B6A-9214-5EE74E8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337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4FE1F-402E-4C4B-9631-C2E56599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83.1%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F905AD-AC9E-4FF7-B150-3D41007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F9165B-DFB9-4D1F-9465-BDB30632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28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Strong readiness indicator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7EA47-E686-4E58-8057-B03B0D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638C7-E6FE-4BB2-BA70-CADD91B5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Reused booster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6A2E9-F34B-4F66-A53B-163CF778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433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7349C-7165-4625-9880-A0EDFB3F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58.5%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3B056E-8E78-43DB-A9D8-E3E65088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433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DAD3C4-12F1-4371-9A10-5C02477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385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78.4%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1F070-FDDD-46DD-B31F-006738FB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433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6D234C-5188-47D9-83F8-9CDD9586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38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Reuse maturity correlates with success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5971F3-FE3A-4ADE-B622-82248A7E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Orbit examples: VLEO 85.7%, LEO 71.4%, ISS 61.9%, GTO 51.9%.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05CCAB-DD09-4ACE-9564-D5D9F07B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36691F-8772-4D00-B429-1805EBB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063339-A591-4386-A9F1-F74EFCE2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</p:spTree>
    <p:extLst>
      <p:ext uri="{BB962C8B-B14F-4D97-AF65-F5344CB8AC3E}">
        <p14:creationId xmlns:p14="http://schemas.microsoft.com/office/powerpoint/2010/main" val="11599174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E9BD74-F8D9-41CF-B219-8D731A57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9E7D7-2889-4A0B-9E2D-64376E2A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EDA With SQL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BAEDA-A927-4E84-8179-5EEDBA2F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C8CD0-3FAE-4579-9145-AEF2EEC3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5251E-3D72-4EC6-9F92-2284FF8B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SQL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77401-239A-4A41-A649-6C56D72D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614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F984C-4437-4D19-8E29-6D27609F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335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AFB72-A0A5-46AD-844D-74700067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309CD-43D3-49CF-B036-36E30454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Unique launch sites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445BD-2FF5-469E-B9F7-1929F014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614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CBAB1-3F27-443D-BD19-DE058D81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8600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CCAFS LC-40, VAFB SLC-4E, KSC LC-39A, CCAFS SLC-40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40EC0-754E-4252-B2B9-3FC58896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6FA80-6633-440C-8473-844551B8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NASA CRS total payload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09C9E-2460-4150-8871-6513C71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43200"/>
            <a:ext cx="614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55799-5599-4FDD-8074-A430F3FF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384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45,596 kg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0B84-212B-45A8-A700-B4C6907C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BB8F1-AEC3-4747-A313-4D703606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Average payload mass for F9 v1.1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C9706-6E0F-44C7-BF6C-8E3F6C9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95650"/>
            <a:ext cx="614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71589-9AEF-41D3-BB57-BCD7E626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2,928.4 kg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D9597-8889-4EAC-916A-8750FCFF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E0F24-098A-4BAA-A189-6056C8D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First successful ground-pad landing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9E9838-FF48-406D-AE9E-0306BB30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48100"/>
            <a:ext cx="614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E685D-F43E-4A7A-8584-8F59BDE8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433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2015-12-22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E1DB0-1DFA-4133-A38D-F4DE06DE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0F608-F6C8-4CE4-84C6-81D48E15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Top early landing outcome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133C2F-8D1B-4E1D-A581-E9FEACAF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00550"/>
            <a:ext cx="614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26FC6-E510-437B-8524-9F546F5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9580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No attempt: 10 between 2010-06-04 and 2017-03-20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A0B8F-C09F-4F03-8789-C187B48A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C516BD-D361-4A1B-9624-9CA5B260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83B36-0CC1-4D1B-80DC-83D8335F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17679433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0FC65A-1811-4B2C-AACE-5120AAFC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CBA04-4E30-4C1B-BFCE-D1EC0026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Interactive Map Results Using Folium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BFAB1-325F-41AE-A5BB-0E0C714F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03A75-3973-4844-8273-9650F805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526BB-1528-4FF2-ABF0-82ED6006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0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B9D6C-E530-4207-9BD2-E75670B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Map Findings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FA439-9150-4F02-AD1F-E5617969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Launch sites plotted with Folium markers.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95885-D147-485E-87CA-4990EB4A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Green markers = success; red markers = failure.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8ADBD-C7DA-4DAB-8606-343530B9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Sites cluster near coastlines for launch safety and downrange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76FAD-03A2-4A29-82AA-C02EAF57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Distance markers compare sites with coastlines, highways, railways, and cities.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66D7F-731B-4BBA-A6E7-9CA8E3AC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71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Geographic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634D2-DAED-4C44-94FB-9FAD4955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Florida sites cluster around Cape Canaveral / Kennedy Space Center. VAFB appears on the California coast.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76CF7-0E87-4DCB-9836-C66A4E38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0CFE0-45D6-4E0B-B40B-1C202400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BD617-5595-4F9C-AD87-724DCB23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</p:spTree>
    <p:extLst>
      <p:ext uri="{BB962C8B-B14F-4D97-AF65-F5344CB8AC3E}">
        <p14:creationId xmlns:p14="http://schemas.microsoft.com/office/powerpoint/2010/main" val="7131499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CC415-C73A-43C3-8478-D269DA4B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44775-F074-4F40-B551-AF9AD676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Plotly Dash Dashboard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3D2B8-1E82-4913-9685-48A8525F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C075D-5BC5-4470-858C-D26E0C25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BB89E-91CE-40A3-8B1C-03A9C24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Launch 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0326D-3DA3-4A04-80EB-6EA9A1ED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14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FD7A0-5DDD-4BE4-9BA2-6572796A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Launches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E1730-4726-49C2-8CAF-387C581C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14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B1785-CF28-495E-AC74-2575C85C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Success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4716B-CB03-49C0-BD38-7D5E820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4F339-6939-4834-98DB-647B9790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Dashboard 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F3E9B-4BF7-4254-9C0E-9895BED5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1807F-47D9-4BF5-9069-4A612C7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KSC LC-39A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54C52-2EE0-410D-9DE9-F39225AF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62907-7538-4D5B-A170-03A169AE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622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9B35A-EAE1-4F70-B78E-7B7DA0DF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0028C-0A44-4446-A27D-E3D96D50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76.9%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ACB37-8B59-4E5A-A1F8-7B89A9C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C92AB-6E02-4C7A-8FF6-DCB744BD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Highest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3F116-721E-4038-AC18-59C7B8D6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2EECF-8C3C-42A7-9994-2B3A1233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CCAFS SLC-40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348F2-85B0-4A2B-B14D-5D1BA2C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194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6CC87-3F79-4A87-9FB7-0EAE258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BC2C4-A6CB-451C-A569-793AEDC3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7AAAC-09D1-4FBE-B509-7FBA28C3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42.9%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75D90-4D8A-428A-B2DB-1CCB0CE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C8AA3-58BE-4046-8DFC-BF3D7097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Mid performance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B38A72-8C44-4419-BDEA-EE15339F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058F3E-E22C-413F-A8AE-73539D9B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VAFB SLC-4E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DAB364-DC99-4CB5-99D8-39906492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718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997F1-3AE1-4F05-B491-843047C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671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0DB843-784F-4747-BEE1-CBB4E87E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73DEAC-616E-4B92-AAFC-1FED10DA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671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BC9F10-DC17-4255-ABCC-4EA2EC9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5CA8D7-3C9B-493F-A96D-77A28A18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Mid performance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183522-3B5B-4319-BB68-1C4A98F3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4A7BFA-3DF6-47EC-A14B-B4E7D822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CCAFS LC-40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81656E-92A8-4591-B611-475966E6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243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56DD0A-9D59-4D11-B179-C5D5828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F418F4-BEC7-4B6F-939B-5B3CA965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24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52AA41-8C98-488D-A2C5-E346882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26.9%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9C4BC7-B4B4-4359-B1AD-95F5A7A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43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240D62-F8F2-4E82-B1CD-4CD68E33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Lowest success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8351E6-9380-44DC-B0B2-3C7A4204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238375" cy="228600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749085-A237-4F38-8A2B-DE54A8B9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BC7BB8-3A22-4084-A79D-247D3AF5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194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Site dropdown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E28154-3A83-48B4-B8DF-215EC0FC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385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Payload slider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BA29C0-613E-4D89-8C94-9F4BE0AD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576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Pie chart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7FE0C3-B0BB-4EAE-A9CA-3A7263D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767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Payload scatter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24BA96-189B-41FC-A3F9-B7C12A6A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FB29C9-BCEB-4393-91F8-7F1BAB2B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4C2B61-0FC4-44BE-B545-36591E12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7607351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553A0E-6A5D-4EA6-BE88-406ED422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6BA0F-FCE8-4B0A-ABC2-BF50E350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Predictive Analysis Classification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73A79-6A36-48A2-9ECB-E35FCBB4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535E5-BBF3-4B13-9E38-842A281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D57D0-DC06-4D3C-AF1D-232223FA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C8FFC-769A-417B-BFF9-46F4496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764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ECA2F-42E3-4AE3-A51B-7DE279D0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716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Test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CA5B8-9160-4E54-889E-86E278D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D5F79-7317-4D7D-AECE-D270B73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Best CV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53067-0CC7-4D6D-8B5C-D3590642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45FD6-349F-40BE-9D55-DF566E61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71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111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15D91-F9A3-4511-9DAB-32361B28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09660-9229-46DC-88DE-48DB49E9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Decision 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A0C04-BF90-43CC-8B84-F0225C76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07E24-14FE-4705-9471-F3A9873F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16EB2-7292-4436-82A2-133B5200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0FB5F-FBB1-4D6B-A4D2-AD061EC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0.877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05D15-AF5E-4FCF-956A-53B7B001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B7DC1-4E33-4D82-9C59-871CA805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Selected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2ABB3-D950-48D3-99BA-DCE2D2C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56428-29B8-4355-B207-23D5A5E6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 Nearest Neighbors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EC280-D830-4ED0-9353-DCAE03E5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575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B9174-0667-4C90-B0B4-4CC666A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4A29E-222C-4573-94D5-7B8F44F9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22ADD-959C-43C1-A6CE-8D4B9DB1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0.848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A3C93-C1EB-4F8D-9F6A-B2D64772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4A6E3-D956-42D9-B29C-80B74EDF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Comparable test accuracy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E88CE0-C30A-4B26-9955-3C5FFD68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6F1899-CB01-436F-A338-3477366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Support Vector Machine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9444C-DD39-49BA-9A44-34542402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480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CE40E7-07E2-4F68-BA7E-D38FDA71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0.833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6969C-6B0B-40B2-8E23-89AC1E4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2258B9-FF53-472E-8996-40C2C452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0.848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51DD27-0C8B-4ED8-891F-7B964AC0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4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235F3C-1BA6-4DF2-99A5-047C2F7D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433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Comparable test accuracy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6F85B-AB58-4CB1-A837-97ABE639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8A723A-655D-46C7-B6C4-26333538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C14647-6964-40E9-B2C9-605199F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386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B83F41-6261-4A75-A87F-484D3A54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33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0.833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B49B0A-1DA4-4491-A39F-07E0FC7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2C2FD4-AC41-48EF-B1D2-01E9BD66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0.846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E8A2CD-FE4A-4751-9046-E4AC4C4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386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06111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F5A6FC-A9B6-4D50-9E58-D064AF5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Lowest CV score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9EB839-649D-4ED1-B5CF-75058E70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Decision Tree had the highest cross-validation score while matching the best test accuracy.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C0CDE2-7CED-46BC-B401-8D4050AC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4CC3C9-6C8F-4B91-8430-B9E832D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4E2B50-AAF7-4E2E-B040-FD8592E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4720325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1C3445-5A3B-4653-A496-1B3C83CC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99A49-1C5A-4A23-B594-CA5DB87E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Innovative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24118-2AED-44D8-8200-7939C08A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40E60-50ED-46C4-99C2-8E125A80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Landing success is not just a payload-mass problem; hardware configuration is highly predictive.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D0AF0-2ECA-446A-8B85-25F43CB0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Grid fins and landing legs separate low-success early profiles from mature landing profiles.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1B227-A609-4392-8293-372AD994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Reused boosters show higher success in the cleaned dataset, suggesting operational learning and reuse maturity.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909CF-536C-44E8-ABBB-79E3D74C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The clearest strategic signal is time: landing reliability changed sharply after 2015.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2AEF5-839A-4AE3-9C19-DD50D92B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Launch site matters because each site represents different missions, trajectories, and operating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0A139-47C2-409E-A582-F9FD0C15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9C542-4388-45E2-A8FB-2C944A95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C036C-281F-407B-8B4E-5038EA7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1448096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A1BB2-D4B1-493A-8A46-3551C43F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SPACE X FALCON 9 LANDING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7484E-5B7E-4BA3-B7BC-2E85B85C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CA9EC-F529-401B-9340-9B031D5E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6A19-A7D6-418B-AFF6-BB0461BD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DA62F-3200-4533-A43B-29E7CC1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1CBF-86A4-4028-B2C2-5255767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cleaned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B74F8-490A-443C-953B-41E4010D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11936-3729-4030-BCB3-43B0E6CD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193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66.7%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FEAFC-E0C6-49C3-B741-778DA72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landing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9A65C-6CA7-4449-8E1E-05188D51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C64ED-3415-4B3D-9D3E-16773CCA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83.3%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C9A28-F8E7-450B-8988-05ADF784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test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222BE-B022-4DC0-885E-8280BF30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907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83F"/>
          </a:solidFill>
          <a:ln xmlns:a="http://schemas.openxmlformats.org/drawingml/2006/main" w="9525">
            <a:solidFill>
              <a:srgbClr val="2031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59927-B3D7-4EA4-8C5B-7D61EB30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193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Tree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4D391-6145-476A-A69A-E38BEA13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selected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DA171-4163-4DFE-BBFA-D31B4CD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Full workflow: collected, cleaned, explored, mapped, dashboarded, and modeled Falcon 9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0C9EC-D2DE-4BDF-93C6-07C59FBB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EDA showed success improved over time and varied by site, orbit, and booster configuration.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EE703-8AC2-4CA6-BE5B-8737C66D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482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Folium and Dash made location and payload patterns easier to inspect interactively.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F0C4D-FF8E-45E3-BF19-3055E664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14975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Historical launch, mission, and booster features predict landing success with meaningful accuracy.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BBE23-DF0A-490D-BF2A-0BC5AED6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DC2A2-D446-447D-8325-AFED6C06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GitHub: github.com/SinaQP/SpaceX-Falcon9-Prediction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C639D-2D29-446A-9CC7-36A9F16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4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4C6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1860183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2026-06-28T07:45:22.1410000Z</dcterms:created>
  <dcterms:modified xsi:type="dcterms:W3CDTF">2026-06-28T07:45:22.1410000Z</dcterms:modified>
</coreProperties>
</file>